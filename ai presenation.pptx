
<file path=[Content_Types].xml><?xml version="1.0" encoding="utf-8"?>
<Types xmlns="http://schemas.openxmlformats.org/package/2006/content-types">
  <Default Extension="jpeg" ContentType="image/jpeg"/>
  <Default Extension="mp3" ContentType="audio/m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76"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4"/>
    <p:restoredTop sz="96976"/>
  </p:normalViewPr>
  <p:slideViewPr>
    <p:cSldViewPr snapToGrid="0">
      <p:cViewPr varScale="1">
        <p:scale>
          <a:sx n="127" d="100"/>
          <a:sy n="127" d="100"/>
        </p:scale>
        <p:origin x="384" y="192"/>
      </p:cViewPr>
      <p:guideLst/>
    </p:cSldViewPr>
  </p:slideViewPr>
  <p:notesTextViewPr>
    <p:cViewPr>
      <p:scale>
        <a:sx n="1" d="1"/>
        <a:sy n="1" d="1"/>
      </p:scale>
      <p:origin x="0" y="0"/>
    </p:cViewPr>
  </p:notesTextViewPr>
  <p:notesViewPr>
    <p:cSldViewPr snapToGrid="0">
      <p:cViewPr varScale="1">
        <p:scale>
          <a:sx n="96" d="100"/>
          <a:sy n="96" d="100"/>
        </p:scale>
        <p:origin x="4328" y="17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24736A-8DEC-9A44-BA55-984E75E00A1C}" type="datetimeFigureOut">
              <a:rPr lang="en-US" smtClean="0"/>
              <a:t>5/1/26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7C536F-6EB9-AB41-BD70-DEB7371B08DE}" type="slidenum">
              <a:rPr lang="en-US" smtClean="0"/>
              <a:t>‹#›</a:t>
            </a:fld>
            <a:endParaRPr lang="en-US"/>
          </a:p>
        </p:txBody>
      </p:sp>
    </p:spTree>
    <p:extLst>
      <p:ext uri="{BB962C8B-B14F-4D97-AF65-F5344CB8AC3E}">
        <p14:creationId xmlns:p14="http://schemas.microsoft.com/office/powerpoint/2010/main" val="27910057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9E7C536F-6EB9-AB41-BD70-DEB7371B08DE}" type="slidenum">
              <a:rPr lang="en-US" smtClean="0"/>
              <a:t>1</a:t>
            </a:fld>
            <a:endParaRPr lang="en-US"/>
          </a:p>
        </p:txBody>
      </p:sp>
    </p:spTree>
    <p:extLst>
      <p:ext uri="{BB962C8B-B14F-4D97-AF65-F5344CB8AC3E}">
        <p14:creationId xmlns:p14="http://schemas.microsoft.com/office/powerpoint/2010/main" val="7113053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7C536F-6EB9-AB41-BD70-DEB7371B08DE}" type="slidenum">
              <a:rPr lang="en-US" smtClean="0"/>
              <a:t>2</a:t>
            </a:fld>
            <a:endParaRPr lang="en-US"/>
          </a:p>
        </p:txBody>
      </p:sp>
    </p:spTree>
    <p:extLst>
      <p:ext uri="{BB962C8B-B14F-4D97-AF65-F5344CB8AC3E}">
        <p14:creationId xmlns:p14="http://schemas.microsoft.com/office/powerpoint/2010/main" val="18535295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9E7C536F-6EB9-AB41-BD70-DEB7371B08DE}" type="slidenum">
              <a:rPr lang="en-US" smtClean="0"/>
              <a:t>3</a:t>
            </a:fld>
            <a:endParaRPr lang="en-US"/>
          </a:p>
        </p:txBody>
      </p:sp>
    </p:spTree>
    <p:extLst>
      <p:ext uri="{BB962C8B-B14F-4D97-AF65-F5344CB8AC3E}">
        <p14:creationId xmlns:p14="http://schemas.microsoft.com/office/powerpoint/2010/main" val="35529685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7C536F-6EB9-AB41-BD70-DEB7371B08DE}" type="slidenum">
              <a:rPr lang="en-US" smtClean="0"/>
              <a:t>4</a:t>
            </a:fld>
            <a:endParaRPr lang="en-US"/>
          </a:p>
        </p:txBody>
      </p:sp>
    </p:spTree>
    <p:extLst>
      <p:ext uri="{BB962C8B-B14F-4D97-AF65-F5344CB8AC3E}">
        <p14:creationId xmlns:p14="http://schemas.microsoft.com/office/powerpoint/2010/main" val="30591245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5"/>
          </p:nvPr>
        </p:nvSpPr>
        <p:spPr/>
        <p:txBody>
          <a:bodyPr/>
          <a:lstStyle/>
          <a:p>
            <a:fld id="{9E7C536F-6EB9-AB41-BD70-DEB7371B08DE}" type="slidenum">
              <a:rPr lang="en-US" smtClean="0"/>
              <a:t>5</a:t>
            </a:fld>
            <a:endParaRPr lang="en-US"/>
          </a:p>
        </p:txBody>
      </p:sp>
      <p:sp>
        <p:nvSpPr>
          <p:cNvPr id="6" name="Notes Placeholder 5">
            <a:extLst>
              <a:ext uri="{FF2B5EF4-FFF2-40B4-BE49-F238E27FC236}">
                <a16:creationId xmlns:a16="http://schemas.microsoft.com/office/drawing/2014/main" id="{8F417433-0C5E-8BCA-6DD1-6726382372B1}"/>
              </a:ext>
            </a:extLst>
          </p:cNvPr>
          <p:cNvSpPr>
            <a:spLocks noGrp="1"/>
          </p:cNvSpPr>
          <p:nvPr>
            <p:ph type="body" sz="quarter" idx="3"/>
          </p:nvPr>
        </p:nvSpPr>
        <p:spPr/>
        <p:txBody>
          <a:bodyPr/>
          <a:lstStyle/>
          <a:p>
            <a:endParaRPr lang="en-US" dirty="0"/>
          </a:p>
        </p:txBody>
      </p:sp>
    </p:spTree>
    <p:extLst>
      <p:ext uri="{BB962C8B-B14F-4D97-AF65-F5344CB8AC3E}">
        <p14:creationId xmlns:p14="http://schemas.microsoft.com/office/powerpoint/2010/main" val="17741409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7C536F-6EB9-AB41-BD70-DEB7371B08DE}" type="slidenum">
              <a:rPr lang="en-US" smtClean="0"/>
              <a:t>6</a:t>
            </a:fld>
            <a:endParaRPr lang="en-US"/>
          </a:p>
        </p:txBody>
      </p:sp>
    </p:spTree>
    <p:extLst>
      <p:ext uri="{BB962C8B-B14F-4D97-AF65-F5344CB8AC3E}">
        <p14:creationId xmlns:p14="http://schemas.microsoft.com/office/powerpoint/2010/main" val="912393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7C536F-6EB9-AB41-BD70-DEB7371B08DE}" type="slidenum">
              <a:rPr lang="en-US" smtClean="0"/>
              <a:t>7</a:t>
            </a:fld>
            <a:endParaRPr lang="en-US"/>
          </a:p>
        </p:txBody>
      </p:sp>
    </p:spTree>
    <p:extLst>
      <p:ext uri="{BB962C8B-B14F-4D97-AF65-F5344CB8AC3E}">
        <p14:creationId xmlns:p14="http://schemas.microsoft.com/office/powerpoint/2010/main" val="8947293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7C536F-6EB9-AB41-BD70-DEB7371B08DE}" type="slidenum">
              <a:rPr lang="en-US" smtClean="0"/>
              <a:t>8</a:t>
            </a:fld>
            <a:endParaRPr lang="en-US"/>
          </a:p>
        </p:txBody>
      </p:sp>
    </p:spTree>
    <p:extLst>
      <p:ext uri="{BB962C8B-B14F-4D97-AF65-F5344CB8AC3E}">
        <p14:creationId xmlns:p14="http://schemas.microsoft.com/office/powerpoint/2010/main" val="37610218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7C536F-6EB9-AB41-BD70-DEB7371B08DE}" type="slidenum">
              <a:rPr lang="en-US" smtClean="0"/>
              <a:t>9</a:t>
            </a:fld>
            <a:endParaRPr lang="en-US"/>
          </a:p>
        </p:txBody>
      </p:sp>
    </p:spTree>
    <p:extLst>
      <p:ext uri="{BB962C8B-B14F-4D97-AF65-F5344CB8AC3E}">
        <p14:creationId xmlns:p14="http://schemas.microsoft.com/office/powerpoint/2010/main" val="23748772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7C536F-6EB9-AB41-BD70-DEB7371B08DE}" type="slidenum">
              <a:rPr lang="en-US" smtClean="0"/>
              <a:t>10</a:t>
            </a:fld>
            <a:endParaRPr lang="en-US"/>
          </a:p>
        </p:txBody>
      </p:sp>
    </p:spTree>
    <p:extLst>
      <p:ext uri="{BB962C8B-B14F-4D97-AF65-F5344CB8AC3E}">
        <p14:creationId xmlns:p14="http://schemas.microsoft.com/office/powerpoint/2010/main" val="5200550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7C536F-6EB9-AB41-BD70-DEB7371B08DE}" type="slidenum">
              <a:rPr lang="en-US" smtClean="0"/>
              <a:t>11</a:t>
            </a:fld>
            <a:endParaRPr lang="en-US"/>
          </a:p>
        </p:txBody>
      </p:sp>
    </p:spTree>
    <p:extLst>
      <p:ext uri="{BB962C8B-B14F-4D97-AF65-F5344CB8AC3E}">
        <p14:creationId xmlns:p14="http://schemas.microsoft.com/office/powerpoint/2010/main" val="16702798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2EA7947-E287-4738-8C82-07CE4F01EF03}" type="datetime2">
              <a:rPr lang="en-US" smtClean="0"/>
              <a:t>Friday, May 1, 2026</a:t>
            </a:fld>
            <a:endParaRPr lang="en-US" dirty="0"/>
          </a:p>
        </p:txBody>
      </p:sp>
      <p:sp>
        <p:nvSpPr>
          <p:cNvPr id="5" name="Footer Placeholder 4"/>
          <p:cNvSpPr>
            <a:spLocks noGrp="1"/>
          </p:cNvSpPr>
          <p:nvPr>
            <p:ph type="ftr" sz="quarter" idx="11"/>
          </p:nvPr>
        </p:nvSpPr>
        <p:spPr/>
        <p:txBody>
          <a:bodyPr/>
          <a:lstStyle/>
          <a:p>
            <a:r>
              <a:rPr lang="en-US"/>
              <a:t>Sample Footer</a:t>
            </a:r>
          </a:p>
        </p:txBody>
      </p:sp>
      <p:sp>
        <p:nvSpPr>
          <p:cNvPr id="6" name="Slide Number Placeholder 5"/>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740822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E8C025-CD7A-4966-867E-81CF82B15267}" type="datetime2">
              <a:rPr lang="en-US" smtClean="0"/>
              <a:t>Friday, May 1, 2026</a:t>
            </a:fld>
            <a:endParaRPr lang="en-US"/>
          </a:p>
        </p:txBody>
      </p:sp>
      <p:sp>
        <p:nvSpPr>
          <p:cNvPr id="5" name="Footer Placeholder 4"/>
          <p:cNvSpPr>
            <a:spLocks noGrp="1"/>
          </p:cNvSpPr>
          <p:nvPr>
            <p:ph type="ftr" sz="quarter" idx="11"/>
          </p:nvPr>
        </p:nvSpPr>
        <p:spPr/>
        <p:txBody>
          <a:bodyPr/>
          <a:lstStyle/>
          <a:p>
            <a:r>
              <a:rPr lang="en-US"/>
              <a:t>Sample Footer</a:t>
            </a:r>
          </a:p>
        </p:txBody>
      </p:sp>
      <p:sp>
        <p:nvSpPr>
          <p:cNvPr id="6" name="Slide Number Placeholder 5"/>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37105431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E809929-0719-4517-94D6-FDF7F99E70F6}" type="datetime2">
              <a:rPr lang="en-US" smtClean="0"/>
              <a:t>Friday, May 1, 2026</a:t>
            </a:fld>
            <a:endParaRPr lang="en-US"/>
          </a:p>
        </p:txBody>
      </p:sp>
      <p:sp>
        <p:nvSpPr>
          <p:cNvPr id="5" name="Footer Placeholder 4"/>
          <p:cNvSpPr>
            <a:spLocks noGrp="1"/>
          </p:cNvSpPr>
          <p:nvPr>
            <p:ph type="ftr" sz="quarter" idx="11"/>
          </p:nvPr>
        </p:nvSpPr>
        <p:spPr/>
        <p:txBody>
          <a:bodyPr/>
          <a:lstStyle/>
          <a:p>
            <a:r>
              <a:rPr lang="en-US"/>
              <a:t>Sample Footer</a:t>
            </a:r>
          </a:p>
        </p:txBody>
      </p:sp>
      <p:sp>
        <p:nvSpPr>
          <p:cNvPr id="6" name="Slide Number Placeholder 5"/>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30095331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0E95673-5512-4AAA-9AEB-E00C61EC65D5}" type="datetime2">
              <a:rPr lang="en-US" smtClean="0"/>
              <a:t>Friday, May 1, 2026</a:t>
            </a:fld>
            <a:endParaRPr lang="en-US"/>
          </a:p>
        </p:txBody>
      </p:sp>
      <p:sp>
        <p:nvSpPr>
          <p:cNvPr id="6" name="Footer Placeholder 5"/>
          <p:cNvSpPr>
            <a:spLocks noGrp="1"/>
          </p:cNvSpPr>
          <p:nvPr>
            <p:ph type="ftr" sz="quarter" idx="11"/>
          </p:nvPr>
        </p:nvSpPr>
        <p:spPr/>
        <p:txBody>
          <a:bodyPr/>
          <a:lstStyle/>
          <a:p>
            <a:r>
              <a:rPr lang="en-US"/>
              <a:t>Sample Footer</a:t>
            </a:r>
          </a:p>
        </p:txBody>
      </p:sp>
      <p:sp>
        <p:nvSpPr>
          <p:cNvPr id="7" name="Slide Number Placeholder 6"/>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12210981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46CB39B-5F4C-4A7E-9BE3-AAFD45576D16}" type="datetime2">
              <a:rPr lang="en-US" smtClean="0"/>
              <a:t>Friday, May 1, 2026</a:t>
            </a:fld>
            <a:endParaRPr lang="en-US" dirty="0"/>
          </a:p>
        </p:txBody>
      </p:sp>
      <p:sp>
        <p:nvSpPr>
          <p:cNvPr id="8" name="Footer Placeholder 7"/>
          <p:cNvSpPr>
            <a:spLocks noGrp="1"/>
          </p:cNvSpPr>
          <p:nvPr>
            <p:ph type="ftr" sz="quarter" idx="11"/>
          </p:nvPr>
        </p:nvSpPr>
        <p:spPr/>
        <p:txBody>
          <a:bodyPr/>
          <a:lstStyle/>
          <a:p>
            <a:r>
              <a:rPr lang="en-US"/>
              <a:t>Sample Footer</a:t>
            </a:r>
            <a:endParaRPr lang="en-US" dirty="0"/>
          </a:p>
        </p:txBody>
      </p:sp>
      <p:sp>
        <p:nvSpPr>
          <p:cNvPr id="9" name="Slide Number Placeholder 8"/>
          <p:cNvSpPr>
            <a:spLocks noGrp="1"/>
          </p:cNvSpPr>
          <p:nvPr>
            <p:ph type="sldNum" sz="quarter" idx="12"/>
          </p:nvPr>
        </p:nvSpPr>
        <p:spPr/>
        <p:txBody>
          <a:bodyPr/>
          <a:lstStyle/>
          <a:p>
            <a:fld id="{DBA1B0FB-D917-4C8C-928F-313BD683BF39}" type="slidenum">
              <a:rPr lang="en-US" smtClean="0"/>
              <a:pPr/>
              <a:t>‹#›</a:t>
            </a:fld>
            <a:endParaRPr lang="en-US"/>
          </a:p>
        </p:txBody>
      </p:sp>
    </p:spTree>
    <p:extLst>
      <p:ext uri="{BB962C8B-B14F-4D97-AF65-F5344CB8AC3E}">
        <p14:creationId xmlns:p14="http://schemas.microsoft.com/office/powerpoint/2010/main" val="355553792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75BB40A-97BD-4BFB-B639-0BFF95FDE8B7}" type="datetime2">
              <a:rPr lang="en-US" smtClean="0"/>
              <a:t>Friday, May 1, 2026</a:t>
            </a:fld>
            <a:endParaRPr lang="en-US"/>
          </a:p>
        </p:txBody>
      </p:sp>
      <p:sp>
        <p:nvSpPr>
          <p:cNvPr id="4" name="Footer Placeholder 3"/>
          <p:cNvSpPr>
            <a:spLocks noGrp="1"/>
          </p:cNvSpPr>
          <p:nvPr>
            <p:ph type="ftr" sz="quarter" idx="11"/>
          </p:nvPr>
        </p:nvSpPr>
        <p:spPr/>
        <p:txBody>
          <a:bodyPr/>
          <a:lstStyle/>
          <a:p>
            <a:r>
              <a:rPr lang="en-US"/>
              <a:t>Sample Footer</a:t>
            </a:r>
          </a:p>
        </p:txBody>
      </p:sp>
      <p:sp>
        <p:nvSpPr>
          <p:cNvPr id="5" name="Slide Number Placeholder 4"/>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32695925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E9E0E3-ECF6-4CFE-8698-AEFEBCECC3C0}" type="datetime2">
              <a:rPr lang="en-US" smtClean="0"/>
              <a:t>Friday, May 1, 2026</a:t>
            </a:fld>
            <a:endParaRPr lang="en-US"/>
          </a:p>
        </p:txBody>
      </p:sp>
      <p:sp>
        <p:nvSpPr>
          <p:cNvPr id="3" name="Footer Placeholder 2"/>
          <p:cNvSpPr>
            <a:spLocks noGrp="1"/>
          </p:cNvSpPr>
          <p:nvPr>
            <p:ph type="ftr" sz="quarter" idx="11"/>
          </p:nvPr>
        </p:nvSpPr>
        <p:spPr/>
        <p:txBody>
          <a:bodyPr/>
          <a:lstStyle/>
          <a:p>
            <a:r>
              <a:rPr lang="en-US"/>
              <a:t>Sample Footer</a:t>
            </a:r>
          </a:p>
        </p:txBody>
      </p:sp>
      <p:sp>
        <p:nvSpPr>
          <p:cNvPr id="4" name="Slide Number Placeholder 3"/>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1600269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51462FC-960E-4740-921F-B36862979F21}" type="datetime2">
              <a:rPr lang="en-US" smtClean="0"/>
              <a:t>Friday, May 1, 2026</a:t>
            </a:fld>
            <a:endParaRPr lang="en-US"/>
          </a:p>
        </p:txBody>
      </p:sp>
      <p:sp>
        <p:nvSpPr>
          <p:cNvPr id="6" name="Footer Placeholder 5"/>
          <p:cNvSpPr>
            <a:spLocks noGrp="1"/>
          </p:cNvSpPr>
          <p:nvPr>
            <p:ph type="ftr" sz="quarter" idx="11"/>
          </p:nvPr>
        </p:nvSpPr>
        <p:spPr/>
        <p:txBody>
          <a:bodyPr/>
          <a:lstStyle/>
          <a:p>
            <a:r>
              <a:rPr lang="en-US"/>
              <a:t>Sample Footer</a:t>
            </a:r>
          </a:p>
        </p:txBody>
      </p:sp>
      <p:sp>
        <p:nvSpPr>
          <p:cNvPr id="7" name="Slide Number Placeholder 6"/>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16480718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50BC9E2-CB44-4C05-9BB5-496C18A241E0}" type="datetime2">
              <a:rPr lang="en-US" smtClean="0"/>
              <a:t>Friday, May 1, 2026</a:t>
            </a:fld>
            <a:endParaRPr lang="en-US"/>
          </a:p>
        </p:txBody>
      </p:sp>
      <p:sp>
        <p:nvSpPr>
          <p:cNvPr id="6" name="Footer Placeholder 5"/>
          <p:cNvSpPr>
            <a:spLocks noGrp="1"/>
          </p:cNvSpPr>
          <p:nvPr>
            <p:ph type="ftr" sz="quarter" idx="11"/>
          </p:nvPr>
        </p:nvSpPr>
        <p:spPr/>
        <p:txBody>
          <a:bodyPr/>
          <a:lstStyle/>
          <a:p>
            <a:r>
              <a:rPr lang="en-US"/>
              <a:t>Sample Footer</a:t>
            </a:r>
          </a:p>
        </p:txBody>
      </p:sp>
      <p:sp>
        <p:nvSpPr>
          <p:cNvPr id="7" name="Slide Number Placeholder 6"/>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30999642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2EBD84-71F4-4271-8C46-0D47C0A9B12E}" type="datetime2">
              <a:rPr lang="en-US" smtClean="0"/>
              <a:t>Friday, May 1, 2026</a:t>
            </a:fld>
            <a:endParaRPr lang="en-US"/>
          </a:p>
        </p:txBody>
      </p:sp>
      <p:sp>
        <p:nvSpPr>
          <p:cNvPr id="5" name="Footer Placeholder 4"/>
          <p:cNvSpPr>
            <a:spLocks noGrp="1"/>
          </p:cNvSpPr>
          <p:nvPr>
            <p:ph type="ftr" sz="quarter" idx="11"/>
          </p:nvPr>
        </p:nvSpPr>
        <p:spPr/>
        <p:txBody>
          <a:bodyPr/>
          <a:lstStyle/>
          <a:p>
            <a:r>
              <a:rPr lang="en-US"/>
              <a:t>Sample Footer</a:t>
            </a:r>
          </a:p>
        </p:txBody>
      </p:sp>
      <p:sp>
        <p:nvSpPr>
          <p:cNvPr id="6" name="Slide Number Placeholder 5"/>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1942857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AE0CE1-F450-4107-B2CB-17B18F8A3F4A}" type="datetime2">
              <a:rPr lang="en-US" smtClean="0"/>
              <a:t>Friday, May 1, 2026</a:t>
            </a:fld>
            <a:endParaRPr lang="en-US"/>
          </a:p>
        </p:txBody>
      </p:sp>
      <p:sp>
        <p:nvSpPr>
          <p:cNvPr id="5" name="Footer Placeholder 4"/>
          <p:cNvSpPr>
            <a:spLocks noGrp="1"/>
          </p:cNvSpPr>
          <p:nvPr>
            <p:ph type="ftr" sz="quarter" idx="11"/>
          </p:nvPr>
        </p:nvSpPr>
        <p:spPr/>
        <p:txBody>
          <a:bodyPr/>
          <a:lstStyle/>
          <a:p>
            <a:r>
              <a:rPr lang="en-US"/>
              <a:t>Sample Footer</a:t>
            </a:r>
          </a:p>
        </p:txBody>
      </p:sp>
      <p:sp>
        <p:nvSpPr>
          <p:cNvPr id="6" name="Slide Number Placeholder 5"/>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17344258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46CB39B-5F4C-4A7E-9BE3-AAFD45576D16}" type="datetime2">
              <a:rPr lang="en-US" smtClean="0"/>
              <a:t>Friday, May 1, 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Sample Footer</a:t>
            </a: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BA1B0FB-D917-4C8C-928F-313BD683BF39}" type="slidenum">
              <a:rPr lang="en-US" smtClean="0"/>
              <a:pPr/>
              <a:t>‹#›</a:t>
            </a:fld>
            <a:endParaRPr lang="en-US"/>
          </a:p>
        </p:txBody>
      </p:sp>
    </p:spTree>
    <p:extLst>
      <p:ext uri="{BB962C8B-B14F-4D97-AF65-F5344CB8AC3E}">
        <p14:creationId xmlns:p14="http://schemas.microsoft.com/office/powerpoint/2010/main" val="3848150530"/>
      </p:ext>
    </p:extLst>
  </p:cSld>
  <p:clrMap bg1="lt1" tx1="dk1" bg2="lt2" tx2="dk2" accent1="accent1" accent2="accent2" accent3="accent3" accent4="accent4" accent5="accent5" accent6="accent6" hlink="hlink" folHlink="folHlink"/>
  <p:sldLayoutIdLst>
    <p:sldLayoutId id="2147484177" r:id="rId1"/>
    <p:sldLayoutId id="2147484178" r:id="rId2"/>
    <p:sldLayoutId id="2147484179" r:id="rId3"/>
    <p:sldLayoutId id="2147484180" r:id="rId4"/>
    <p:sldLayoutId id="2147484181" r:id="rId5"/>
    <p:sldLayoutId id="2147484182" r:id="rId6"/>
    <p:sldLayoutId id="2147484183" r:id="rId7"/>
    <p:sldLayoutId id="2147484184" r:id="rId8"/>
    <p:sldLayoutId id="2147484185" r:id="rId9"/>
    <p:sldLayoutId id="2147484186" r:id="rId10"/>
    <p:sldLayoutId id="2147484187"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3" Type="http://schemas.microsoft.com/office/2007/relationships/media" Target="../media/media2.mp3"/><Relationship Id="rId7" Type="http://schemas.openxmlformats.org/officeDocument/2006/relationships/image" Target="../media/image7.png"/><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audio" Target="../media/media2.mp3"/></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441F829-CAB2-EE17-FD3D-A55FAF393527}"/>
              </a:ext>
            </a:extLst>
          </p:cNvPr>
          <p:cNvPicPr>
            <a:picLocks noChangeAspect="1"/>
          </p:cNvPicPr>
          <p:nvPr/>
        </p:nvPicPr>
        <p:blipFill>
          <a:blip r:embed="rId3">
            <a:alphaModFix amt="35000"/>
          </a:blip>
          <a:srcRect t="6472" b="8941"/>
          <a:stretch>
            <a:fillRect/>
          </a:stretch>
        </p:blipFill>
        <p:spPr>
          <a:xfrm>
            <a:off x="0" y="211533"/>
            <a:ext cx="12191980" cy="6857990"/>
          </a:xfrm>
          <a:prstGeom prst="rect">
            <a:avLst/>
          </a:prstGeom>
        </p:spPr>
      </p:pic>
      <p:sp>
        <p:nvSpPr>
          <p:cNvPr id="2" name="Title 1">
            <a:extLst>
              <a:ext uri="{FF2B5EF4-FFF2-40B4-BE49-F238E27FC236}">
                <a16:creationId xmlns:a16="http://schemas.microsoft.com/office/drawing/2014/main" id="{3C3BAE78-452B-8BFC-3A08-615453BF83DB}"/>
              </a:ext>
            </a:extLst>
          </p:cNvPr>
          <p:cNvSpPr>
            <a:spLocks noGrp="1"/>
          </p:cNvSpPr>
          <p:nvPr>
            <p:ph type="ctrTitle"/>
          </p:nvPr>
        </p:nvSpPr>
        <p:spPr/>
        <p:txBody>
          <a:bodyPr>
            <a:normAutofit/>
          </a:bodyPr>
          <a:lstStyle/>
          <a:p>
            <a:r>
              <a:rPr lang="en-US" sz="6600" dirty="0">
                <a:solidFill>
                  <a:schemeClr val="accent4">
                    <a:lumMod val="50000"/>
                  </a:schemeClr>
                </a:solidFill>
                <a:latin typeface="Times New Roman" panose="02020603050405020304" pitchFamily="18" charset="0"/>
                <a:cs typeface="Times New Roman" panose="02020603050405020304" pitchFamily="18" charset="0"/>
              </a:rPr>
              <a:t>Artificial Intelligence in Healthcare</a:t>
            </a:r>
          </a:p>
        </p:txBody>
      </p:sp>
      <p:sp>
        <p:nvSpPr>
          <p:cNvPr id="3" name="Subtitle 2">
            <a:extLst>
              <a:ext uri="{FF2B5EF4-FFF2-40B4-BE49-F238E27FC236}">
                <a16:creationId xmlns:a16="http://schemas.microsoft.com/office/drawing/2014/main" id="{5F306CB1-4BA0-3B6D-5C6F-12F8CF717E7C}"/>
              </a:ext>
            </a:extLst>
          </p:cNvPr>
          <p:cNvSpPr>
            <a:spLocks noGrp="1"/>
          </p:cNvSpPr>
          <p:nvPr>
            <p:ph type="subTitle" idx="1"/>
          </p:nvPr>
        </p:nvSpPr>
        <p:spPr>
          <a:xfrm>
            <a:off x="1524000" y="3804435"/>
            <a:ext cx="9144000" cy="1655762"/>
          </a:xfrm>
        </p:spPr>
        <p:txBody>
          <a:bodyPr>
            <a:normAutofit/>
          </a:bodyPr>
          <a:lstStyle/>
          <a:p>
            <a:r>
              <a:rPr lang="en-US" sz="2800" dirty="0">
                <a:latin typeface="Times New Roman" panose="02020603050405020304" pitchFamily="18" charset="0"/>
                <a:cs typeface="Times New Roman" panose="02020603050405020304" pitchFamily="18" charset="0"/>
              </a:rPr>
              <a:t>Project title: AI-Powered Clinical Decision Support System Using Reinforcement Learning</a:t>
            </a:r>
          </a:p>
        </p:txBody>
      </p:sp>
      <p:sp>
        <p:nvSpPr>
          <p:cNvPr id="5" name="TextBox 4">
            <a:extLst>
              <a:ext uri="{FF2B5EF4-FFF2-40B4-BE49-F238E27FC236}">
                <a16:creationId xmlns:a16="http://schemas.microsoft.com/office/drawing/2014/main" id="{FA61EDC6-37A2-E5BA-8ECC-37084D38B1AD}"/>
              </a:ext>
            </a:extLst>
          </p:cNvPr>
          <p:cNvSpPr txBox="1"/>
          <p:nvPr/>
        </p:nvSpPr>
        <p:spPr>
          <a:xfrm>
            <a:off x="10305515" y="6277135"/>
            <a:ext cx="1886465"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Tahmina Alam</a:t>
            </a:r>
          </a:p>
        </p:txBody>
      </p:sp>
    </p:spTree>
    <p:extLst>
      <p:ext uri="{BB962C8B-B14F-4D97-AF65-F5344CB8AC3E}">
        <p14:creationId xmlns:p14="http://schemas.microsoft.com/office/powerpoint/2010/main" val="1277245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iterate>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5575-A73C-026E-CD01-0198880D344A}"/>
              </a:ext>
            </a:extLst>
          </p:cNvPr>
          <p:cNvSpPr>
            <a:spLocks noGrp="1"/>
          </p:cNvSpPr>
          <p:nvPr>
            <p:ph type="title"/>
          </p:nvPr>
        </p:nvSpPr>
        <p:spPr>
          <a:xfrm>
            <a:off x="710351" y="921415"/>
            <a:ext cx="11091600" cy="1332000"/>
          </a:xfrm>
        </p:spPr>
        <p:txBody>
          <a:bodyPr/>
          <a:lstStyle/>
          <a:p>
            <a:r>
              <a:rPr lang="en-US" b="1" dirty="0">
                <a:solidFill>
                  <a:schemeClr val="accent4">
                    <a:lumMod val="50000"/>
                  </a:schemeClr>
                </a:solidFill>
                <a:latin typeface="Times New Roman" panose="02020603050405020304" pitchFamily="18" charset="0"/>
                <a:cs typeface="Times New Roman" panose="02020603050405020304" pitchFamily="18" charset="0"/>
              </a:rPr>
              <a:t>Background</a:t>
            </a:r>
          </a:p>
        </p:txBody>
      </p:sp>
      <p:sp>
        <p:nvSpPr>
          <p:cNvPr id="3" name="Content Placeholder 2">
            <a:extLst>
              <a:ext uri="{FF2B5EF4-FFF2-40B4-BE49-F238E27FC236}">
                <a16:creationId xmlns:a16="http://schemas.microsoft.com/office/drawing/2014/main" id="{5B0C471C-96EA-54E0-FCC4-B513687B0A34}"/>
              </a:ext>
            </a:extLst>
          </p:cNvPr>
          <p:cNvSpPr>
            <a:spLocks noGrp="1"/>
          </p:cNvSpPr>
          <p:nvPr>
            <p:ph idx="1"/>
          </p:nvPr>
        </p:nvSpPr>
        <p:spPr>
          <a:xfrm>
            <a:off x="550863" y="2381694"/>
            <a:ext cx="11090274" cy="3190455"/>
          </a:xfrm>
        </p:spPr>
        <p:txBody>
          <a:bodyPr>
            <a:normAutofit/>
          </a:bodyPr>
          <a:lstStyle/>
          <a:p>
            <a:r>
              <a:rPr lang="en-US" sz="2400" dirty="0">
                <a:latin typeface="Times New Roman" panose="02020603050405020304" pitchFamily="18" charset="0"/>
                <a:cs typeface="Times New Roman" panose="02020603050405020304" pitchFamily="18" charset="0"/>
              </a:rPr>
              <a:t>In real life, doctors use experience and clinical knowledge to make these decisions, but building an AI system that can assist with this process can improve efficiency and support decision-making.</a:t>
            </a:r>
          </a:p>
          <a:p>
            <a:r>
              <a:rPr lang="en-US" sz="2400" dirty="0">
                <a:latin typeface="Times New Roman" panose="02020603050405020304" pitchFamily="18" charset="0"/>
                <a:cs typeface="Times New Roman" panose="02020603050405020304" pitchFamily="18" charset="0"/>
              </a:rPr>
              <a:t>Since real medical datasets are difficult to access due to privacy and ethical concerns, I used synthetic patient data to simulate real-world cases. This project focuses on using Reinforcement Learning (Q-learning) to recommend treatments, suggest doctor types, and generate explanations with audio support for better user interaction.</a:t>
            </a:r>
          </a:p>
          <a:p>
            <a:endParaRPr lang="en-US" dirty="0"/>
          </a:p>
        </p:txBody>
      </p:sp>
    </p:spTree>
    <p:extLst>
      <p:ext uri="{BB962C8B-B14F-4D97-AF65-F5344CB8AC3E}">
        <p14:creationId xmlns:p14="http://schemas.microsoft.com/office/powerpoint/2010/main" val="21045815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FE5FC-0EC6-EB2D-78E0-F241C98AD010}"/>
              </a:ext>
            </a:extLst>
          </p:cNvPr>
          <p:cNvSpPr>
            <a:spLocks noGrp="1"/>
          </p:cNvSpPr>
          <p:nvPr>
            <p:ph type="title"/>
          </p:nvPr>
        </p:nvSpPr>
        <p:spPr>
          <a:xfrm>
            <a:off x="1123394" y="729049"/>
            <a:ext cx="3601008" cy="1053372"/>
          </a:xfrm>
        </p:spPr>
        <p:txBody>
          <a:bodyPr>
            <a:normAutofit fontScale="90000"/>
          </a:bodyPr>
          <a:lstStyle/>
          <a:p>
            <a:r>
              <a:rPr lang="en-US" sz="4900" b="1" dirty="0">
                <a:solidFill>
                  <a:schemeClr val="accent4">
                    <a:lumMod val="50000"/>
                  </a:schemeClr>
                </a:solidFill>
                <a:latin typeface="Times New Roman" panose="02020603050405020304" pitchFamily="18" charset="0"/>
                <a:cs typeface="Times New Roman" panose="02020603050405020304" pitchFamily="18" charset="0"/>
              </a:rPr>
              <a:t>Goal</a:t>
            </a:r>
            <a:br>
              <a:rPr lang="en-US"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B9B52C0-2CF9-65BE-1B2A-D6DD7EC0EBA3}"/>
              </a:ext>
            </a:extLst>
          </p:cNvPr>
          <p:cNvSpPr>
            <a:spLocks noGrp="1"/>
          </p:cNvSpPr>
          <p:nvPr>
            <p:ph idx="1"/>
          </p:nvPr>
        </p:nvSpPr>
        <p:spPr>
          <a:xfrm>
            <a:off x="975114" y="1782421"/>
            <a:ext cx="4614260" cy="3979625"/>
          </a:xfrm>
        </p:spPr>
        <p:txBody>
          <a:bodyPr>
            <a:normAutofit/>
          </a:bodyPr>
          <a:lstStyle/>
          <a:p>
            <a:r>
              <a:rPr lang="en-US" sz="2400" dirty="0">
                <a:latin typeface="Times New Roman" panose="02020603050405020304" pitchFamily="18" charset="0"/>
                <a:cs typeface="Times New Roman" panose="02020603050405020304" pitchFamily="18" charset="0"/>
              </a:rPr>
              <a:t>Build an AI system that:</a:t>
            </a:r>
          </a:p>
          <a:p>
            <a:r>
              <a:rPr lang="en-US" sz="2400" dirty="0">
                <a:latin typeface="Times New Roman" panose="02020603050405020304" pitchFamily="18" charset="0"/>
                <a:cs typeface="Times New Roman" panose="02020603050405020304" pitchFamily="18" charset="0"/>
              </a:rPr>
              <a:t>generates patient cases </a:t>
            </a:r>
          </a:p>
          <a:p>
            <a:r>
              <a:rPr lang="en-US" sz="2400" dirty="0">
                <a:latin typeface="Times New Roman" panose="02020603050405020304" pitchFamily="18" charset="0"/>
                <a:cs typeface="Times New Roman" panose="02020603050405020304" pitchFamily="18" charset="0"/>
              </a:rPr>
              <a:t>predicts disease from symptoms </a:t>
            </a:r>
          </a:p>
          <a:p>
            <a:r>
              <a:rPr lang="en-US" sz="2400" dirty="0">
                <a:latin typeface="Times New Roman" panose="02020603050405020304" pitchFamily="18" charset="0"/>
                <a:cs typeface="Times New Roman" panose="02020603050405020304" pitchFamily="18" charset="0"/>
              </a:rPr>
              <a:t>selects the best treatment </a:t>
            </a:r>
          </a:p>
          <a:p>
            <a:r>
              <a:rPr lang="en-US" sz="2400" dirty="0">
                <a:latin typeface="Times New Roman" panose="02020603050405020304" pitchFamily="18" charset="0"/>
                <a:cs typeface="Times New Roman" panose="02020603050405020304" pitchFamily="18" charset="0"/>
              </a:rPr>
              <a:t>suggests the correct doctor </a:t>
            </a:r>
          </a:p>
          <a:p>
            <a:r>
              <a:rPr lang="en-US" sz="2400" dirty="0">
                <a:latin typeface="Times New Roman" panose="02020603050405020304" pitchFamily="18" charset="0"/>
                <a:cs typeface="Times New Roman" panose="02020603050405020304" pitchFamily="18" charset="0"/>
              </a:rPr>
              <a:t>explains the decision using LLM </a:t>
            </a:r>
          </a:p>
          <a:p>
            <a:r>
              <a:rPr lang="en-US" sz="2400" dirty="0">
                <a:latin typeface="Times New Roman" panose="02020603050405020304" pitchFamily="18" charset="0"/>
                <a:cs typeface="Times New Roman" panose="02020603050405020304" pitchFamily="18" charset="0"/>
              </a:rPr>
              <a:t>provides audio explanation</a:t>
            </a:r>
          </a:p>
          <a:p>
            <a:endParaRPr lang="en-US" dirty="0"/>
          </a:p>
        </p:txBody>
      </p:sp>
    </p:spTree>
    <p:extLst>
      <p:ext uri="{BB962C8B-B14F-4D97-AF65-F5344CB8AC3E}">
        <p14:creationId xmlns:p14="http://schemas.microsoft.com/office/powerpoint/2010/main" val="7565446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592F1-11CD-0E8D-D634-6E69CF7EE595}"/>
              </a:ext>
            </a:extLst>
          </p:cNvPr>
          <p:cNvSpPr>
            <a:spLocks noGrp="1"/>
          </p:cNvSpPr>
          <p:nvPr>
            <p:ph type="title"/>
          </p:nvPr>
        </p:nvSpPr>
        <p:spPr>
          <a:xfrm>
            <a:off x="1333458" y="365125"/>
            <a:ext cx="10020341" cy="1325563"/>
          </a:xfrm>
        </p:spPr>
        <p:txBody>
          <a:bodyPr>
            <a:normAutofit/>
          </a:bodyPr>
          <a:lstStyle/>
          <a:p>
            <a:r>
              <a:rPr lang="en-US" b="1" dirty="0">
                <a:solidFill>
                  <a:schemeClr val="accent4">
                    <a:lumMod val="50000"/>
                  </a:schemeClr>
                </a:solidFill>
                <a:latin typeface="Times New Roman" panose="02020603050405020304" pitchFamily="18" charset="0"/>
                <a:cs typeface="Times New Roman" panose="02020603050405020304" pitchFamily="18" charset="0"/>
              </a:rPr>
              <a:t>Project Objective</a:t>
            </a:r>
            <a:br>
              <a:rPr lang="en-US" b="1" dirty="0">
                <a:solidFill>
                  <a:schemeClr val="accent4">
                    <a:lumMod val="50000"/>
                  </a:schemeClr>
                </a:solidFill>
              </a:rPr>
            </a:br>
            <a:endParaRPr lang="en-US" dirty="0">
              <a:solidFill>
                <a:schemeClr val="accent4">
                  <a:lumMod val="50000"/>
                </a:schemeClr>
              </a:solidFill>
            </a:endParaRPr>
          </a:p>
        </p:txBody>
      </p:sp>
      <p:sp>
        <p:nvSpPr>
          <p:cNvPr id="3" name="Content Placeholder 2">
            <a:extLst>
              <a:ext uri="{FF2B5EF4-FFF2-40B4-BE49-F238E27FC236}">
                <a16:creationId xmlns:a16="http://schemas.microsoft.com/office/drawing/2014/main" id="{9196A367-5283-0042-BC49-7034CE03C94D}"/>
              </a:ext>
            </a:extLst>
          </p:cNvPr>
          <p:cNvSpPr>
            <a:spLocks noGrp="1"/>
          </p:cNvSpPr>
          <p:nvPr>
            <p:ph idx="1"/>
          </p:nvPr>
        </p:nvSpPr>
        <p:spPr>
          <a:xfrm>
            <a:off x="1333459" y="1463675"/>
            <a:ext cx="4762541" cy="50292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Use Reinforcement Learning (Q-learning) to help simulate clinical decision-making.</a:t>
            </a:r>
          </a:p>
          <a:p>
            <a:pPr marL="0" indent="0">
              <a:buNone/>
            </a:pPr>
            <a:r>
              <a:rPr lang="en-US" sz="2400" b="1" dirty="0">
                <a:solidFill>
                  <a:schemeClr val="accent4">
                    <a:lumMod val="50000"/>
                  </a:schemeClr>
                </a:solidFill>
                <a:latin typeface="Times New Roman" panose="02020603050405020304" pitchFamily="18" charset="0"/>
                <a:cs typeface="Times New Roman" panose="02020603050405020304" pitchFamily="18" charset="0"/>
              </a:rPr>
              <a:t>Compare with:</a:t>
            </a:r>
          </a:p>
          <a:p>
            <a:r>
              <a:rPr lang="en-US" sz="2400" dirty="0">
                <a:latin typeface="Times New Roman" panose="02020603050405020304" pitchFamily="18" charset="0"/>
                <a:cs typeface="Times New Roman" panose="02020603050405020304" pitchFamily="18" charset="0"/>
              </a:rPr>
              <a:t>Random policy </a:t>
            </a:r>
          </a:p>
          <a:p>
            <a:r>
              <a:rPr lang="en-US" sz="2400" dirty="0">
                <a:latin typeface="Times New Roman" panose="02020603050405020304" pitchFamily="18" charset="0"/>
                <a:cs typeface="Times New Roman" panose="02020603050405020304" pitchFamily="18" charset="0"/>
              </a:rPr>
              <a:t>Rule-based policy </a:t>
            </a:r>
          </a:p>
          <a:p>
            <a:r>
              <a:rPr lang="en-US" sz="2400" dirty="0">
                <a:latin typeface="Times New Roman" panose="02020603050405020304" pitchFamily="18" charset="0"/>
                <a:cs typeface="Times New Roman" panose="02020603050405020304" pitchFamily="18" charset="0"/>
              </a:rPr>
              <a:t>RL policy </a:t>
            </a:r>
          </a:p>
          <a:p>
            <a:pPr marL="0" indent="0">
              <a:buNone/>
            </a:pPr>
            <a:r>
              <a:rPr lang="en-US" sz="2400" b="1" dirty="0">
                <a:solidFill>
                  <a:schemeClr val="accent4">
                    <a:lumMod val="50000"/>
                  </a:schemeClr>
                </a:solidFill>
                <a:latin typeface="Times New Roman" panose="02020603050405020304" pitchFamily="18" charset="0"/>
                <a:cs typeface="Times New Roman" panose="02020603050405020304" pitchFamily="18" charset="0"/>
              </a:rPr>
              <a:t>Final Goal:</a:t>
            </a:r>
          </a:p>
          <a:p>
            <a:pPr marL="0" indent="0">
              <a:buNone/>
            </a:pPr>
            <a:r>
              <a:rPr lang="en-US" sz="2400" dirty="0">
                <a:latin typeface="Times New Roman" panose="02020603050405020304" pitchFamily="18" charset="0"/>
                <a:cs typeface="Times New Roman" panose="02020603050405020304" pitchFamily="18" charset="0"/>
              </a:rPr>
              <a:t>Check whether RL can learn treatment decisions close to expert rule-based logic.</a:t>
            </a:r>
          </a:p>
          <a:p>
            <a:endParaRPr lang="en-US" dirty="0"/>
          </a:p>
        </p:txBody>
      </p:sp>
    </p:spTree>
    <p:extLst>
      <p:ext uri="{BB962C8B-B14F-4D97-AF65-F5344CB8AC3E}">
        <p14:creationId xmlns:p14="http://schemas.microsoft.com/office/powerpoint/2010/main" val="6258957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7FC6F-20F9-6E88-FF40-D551C8E048CB}"/>
              </a:ext>
            </a:extLst>
          </p:cNvPr>
          <p:cNvSpPr>
            <a:spLocks noGrp="1"/>
          </p:cNvSpPr>
          <p:nvPr>
            <p:ph type="title"/>
          </p:nvPr>
        </p:nvSpPr>
        <p:spPr>
          <a:xfrm>
            <a:off x="355088" y="297712"/>
            <a:ext cx="11964598" cy="1012104"/>
          </a:xfrm>
        </p:spPr>
        <p:txBody>
          <a:bodyPr>
            <a:noAutofit/>
          </a:bodyPr>
          <a:lstStyle/>
          <a:p>
            <a:r>
              <a:rPr lang="en-US" sz="3600" b="1" dirty="0">
                <a:solidFill>
                  <a:schemeClr val="accent4">
                    <a:lumMod val="50000"/>
                  </a:schemeClr>
                </a:solidFill>
                <a:latin typeface="Times New Roman" panose="02020603050405020304" pitchFamily="18" charset="0"/>
                <a:cs typeface="Times New Roman" panose="02020603050405020304" pitchFamily="18" charset="0"/>
              </a:rPr>
              <a:t>Synthetic Patient Generation and RL Environment Design</a:t>
            </a:r>
            <a:br>
              <a:rPr lang="en-US" sz="3600" b="1" dirty="0">
                <a:solidFill>
                  <a:schemeClr val="accent4">
                    <a:lumMod val="50000"/>
                  </a:schemeClr>
                </a:solidFill>
                <a:latin typeface="Times New Roman" panose="02020603050405020304" pitchFamily="18" charset="0"/>
                <a:cs typeface="Times New Roman" panose="02020603050405020304" pitchFamily="18" charset="0"/>
              </a:rPr>
            </a:br>
            <a:endParaRPr lang="en-US" sz="3600" b="1"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D7DBD5E-EA0F-3D33-C45B-72C2A338BFC3}"/>
              </a:ext>
            </a:extLst>
          </p:cNvPr>
          <p:cNvSpPr>
            <a:spLocks noGrp="1"/>
          </p:cNvSpPr>
          <p:nvPr>
            <p:ph idx="1"/>
          </p:nvPr>
        </p:nvSpPr>
        <p:spPr>
          <a:xfrm>
            <a:off x="756665" y="2414200"/>
            <a:ext cx="4457072" cy="4087977"/>
          </a:xfrm>
          <a:solidFill>
            <a:schemeClr val="bg1"/>
          </a:solidFill>
        </p:spPr>
        <p:txBody>
          <a:bodyPr>
            <a:normAutofit/>
          </a:bodyPr>
          <a:lstStyle/>
          <a:p>
            <a:r>
              <a:rPr lang="en-US" sz="2000" dirty="0">
                <a:latin typeface="Times New Roman" panose="02020603050405020304" pitchFamily="18" charset="0"/>
                <a:cs typeface="Times New Roman" panose="02020603050405020304" pitchFamily="18" charset="0"/>
              </a:rPr>
              <a:t>Real medical datasets are difficult to access.</a:t>
            </a:r>
          </a:p>
          <a:p>
            <a:pPr marL="0" indent="0">
              <a:buNone/>
            </a:pPr>
            <a:r>
              <a:rPr lang="en-US" sz="2000" dirty="0">
                <a:solidFill>
                  <a:schemeClr val="accent4">
                    <a:lumMod val="50000"/>
                  </a:schemeClr>
                </a:solidFill>
                <a:latin typeface="Times New Roman" panose="02020603050405020304" pitchFamily="18" charset="0"/>
                <a:cs typeface="Times New Roman" panose="02020603050405020304" pitchFamily="18" charset="0"/>
              </a:rPr>
              <a:t>What I generated</a:t>
            </a:r>
          </a:p>
          <a:p>
            <a:r>
              <a:rPr lang="en-US" sz="2000" dirty="0">
                <a:latin typeface="Times New Roman" panose="02020603050405020304" pitchFamily="18" charset="0"/>
                <a:cs typeface="Times New Roman" panose="02020603050405020304" pitchFamily="18" charset="0"/>
              </a:rPr>
              <a:t>Age </a:t>
            </a:r>
          </a:p>
          <a:p>
            <a:r>
              <a:rPr lang="en-US" sz="2000" dirty="0">
                <a:latin typeface="Times New Roman" panose="02020603050405020304" pitchFamily="18" charset="0"/>
                <a:cs typeface="Times New Roman" panose="02020603050405020304" pitchFamily="18" charset="0"/>
              </a:rPr>
              <a:t>Symptoms </a:t>
            </a:r>
          </a:p>
          <a:p>
            <a:r>
              <a:rPr lang="en-US" sz="2000" dirty="0">
                <a:latin typeface="Times New Roman" panose="02020603050405020304" pitchFamily="18" charset="0"/>
                <a:cs typeface="Times New Roman" panose="02020603050405020304" pitchFamily="18" charset="0"/>
              </a:rPr>
              <a:t>Severity </a:t>
            </a:r>
          </a:p>
          <a:p>
            <a:r>
              <a:rPr lang="en-US" sz="2000" dirty="0">
                <a:latin typeface="Times New Roman" panose="02020603050405020304" pitchFamily="18" charset="0"/>
                <a:cs typeface="Times New Roman" panose="02020603050405020304" pitchFamily="18" charset="0"/>
              </a:rPr>
              <a:t>Disease type </a:t>
            </a:r>
          </a:p>
          <a:p>
            <a:endParaRPr lang="en-US" dirty="0"/>
          </a:p>
        </p:txBody>
      </p:sp>
      <p:sp>
        <p:nvSpPr>
          <p:cNvPr id="5" name="TextBox 4">
            <a:extLst>
              <a:ext uri="{FF2B5EF4-FFF2-40B4-BE49-F238E27FC236}">
                <a16:creationId xmlns:a16="http://schemas.microsoft.com/office/drawing/2014/main" id="{67762071-C347-9FC2-B706-91BE4360B4A6}"/>
              </a:ext>
            </a:extLst>
          </p:cNvPr>
          <p:cNvSpPr txBox="1"/>
          <p:nvPr/>
        </p:nvSpPr>
        <p:spPr>
          <a:xfrm>
            <a:off x="6337387" y="2346474"/>
            <a:ext cx="4457072" cy="433965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Environment = Clinical </a:t>
            </a:r>
            <a:r>
              <a:rPr lang="en-US" sz="2000" dirty="0" err="1">
                <a:latin typeface="Times New Roman" panose="02020603050405020304" pitchFamily="18" charset="0"/>
                <a:cs typeface="Times New Roman" panose="02020603050405020304" pitchFamily="18" charset="0"/>
              </a:rPr>
              <a:t>TrialEnv</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State</a:t>
            </a:r>
          </a:p>
          <a:p>
            <a:r>
              <a:rPr lang="en-US" sz="2000" dirty="0">
                <a:latin typeface="Times New Roman" panose="02020603050405020304" pitchFamily="18" charset="0"/>
                <a:cs typeface="Times New Roman" panose="02020603050405020304" pitchFamily="18" charset="0"/>
              </a:rPr>
              <a:t>(Disease, Severity Level)</a:t>
            </a:r>
          </a:p>
          <a:p>
            <a:r>
              <a:rPr lang="en-US" sz="2000" dirty="0">
                <a:latin typeface="Times New Roman" panose="02020603050405020304" pitchFamily="18" charset="0"/>
                <a:cs typeface="Times New Roman" panose="02020603050405020304" pitchFamily="18" charset="0"/>
              </a:rPr>
              <a:t>Example:</a:t>
            </a:r>
          </a:p>
          <a:p>
            <a:r>
              <a:rPr lang="en-US" sz="2000" dirty="0">
                <a:latin typeface="Times New Roman" panose="02020603050405020304" pitchFamily="18" charset="0"/>
                <a:cs typeface="Times New Roman" panose="02020603050405020304" pitchFamily="18" charset="0"/>
              </a:rPr>
              <a:t>(Covid, High)</a:t>
            </a:r>
          </a:p>
          <a:p>
            <a:r>
              <a:rPr lang="en-US" sz="2000" dirty="0">
                <a:latin typeface="Times New Roman" panose="02020603050405020304" pitchFamily="18" charset="0"/>
                <a:cs typeface="Times New Roman" panose="02020603050405020304" pitchFamily="18" charset="0"/>
              </a:rPr>
              <a:t>Actions</a:t>
            </a:r>
          </a:p>
          <a:p>
            <a:r>
              <a:rPr lang="en-US" sz="2000" dirty="0">
                <a:latin typeface="Times New Roman" panose="02020603050405020304" pitchFamily="18" charset="0"/>
                <a:cs typeface="Times New Roman" panose="02020603050405020304" pitchFamily="18" charset="0"/>
              </a:rPr>
              <a:t>Treatment A / B / C</a:t>
            </a:r>
          </a:p>
          <a:p>
            <a:r>
              <a:rPr lang="en-US" sz="2000" dirty="0">
                <a:latin typeface="Times New Roman" panose="02020603050405020304" pitchFamily="18" charset="0"/>
                <a:cs typeface="Times New Roman" panose="02020603050405020304" pitchFamily="18" charset="0"/>
              </a:rPr>
              <a:t>Reward</a:t>
            </a:r>
          </a:p>
          <a:p>
            <a:r>
              <a:rPr lang="en-US" sz="2000" dirty="0">
                <a:latin typeface="Times New Roman" panose="02020603050405020304" pitchFamily="18" charset="0"/>
                <a:cs typeface="Times New Roman" panose="02020603050405020304" pitchFamily="18" charset="0"/>
              </a:rPr>
              <a:t>Improved = +10 </a:t>
            </a:r>
          </a:p>
          <a:p>
            <a:r>
              <a:rPr lang="en-US" sz="2000" dirty="0">
                <a:latin typeface="Times New Roman" panose="02020603050405020304" pitchFamily="18" charset="0"/>
                <a:cs typeface="Times New Roman" panose="02020603050405020304" pitchFamily="18" charset="0"/>
              </a:rPr>
              <a:t>No Change = 0 </a:t>
            </a:r>
          </a:p>
          <a:p>
            <a:r>
              <a:rPr lang="en-US" sz="2000" dirty="0">
                <a:latin typeface="Times New Roman" panose="02020603050405020304" pitchFamily="18" charset="0"/>
                <a:cs typeface="Times New Roman" panose="02020603050405020304" pitchFamily="18" charset="0"/>
              </a:rPr>
              <a:t>Side Effect = -6 </a:t>
            </a:r>
          </a:p>
          <a:p>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428BB4AF-D829-CC9B-3BAB-830B6F6F538A}"/>
              </a:ext>
            </a:extLst>
          </p:cNvPr>
          <p:cNvSpPr txBox="1"/>
          <p:nvPr/>
        </p:nvSpPr>
        <p:spPr>
          <a:xfrm>
            <a:off x="6337387" y="1631175"/>
            <a:ext cx="3422822" cy="461665"/>
          </a:xfrm>
          <a:prstGeom prst="rect">
            <a:avLst/>
          </a:prstGeom>
          <a:noFill/>
        </p:spPr>
        <p:txBody>
          <a:bodyPr wrap="square" rtlCol="0">
            <a:spAutoFit/>
          </a:bodyPr>
          <a:lstStyle/>
          <a:p>
            <a:r>
              <a:rPr lang="en-US" sz="2400" dirty="0">
                <a:solidFill>
                  <a:schemeClr val="accent4">
                    <a:lumMod val="50000"/>
                  </a:schemeClr>
                </a:solidFill>
                <a:latin typeface="Times New Roman" panose="02020603050405020304" pitchFamily="18" charset="0"/>
                <a:cs typeface="Times New Roman" panose="02020603050405020304" pitchFamily="18" charset="0"/>
              </a:rPr>
              <a:t>RL Environment Design</a:t>
            </a:r>
            <a:endParaRPr lang="en-US" sz="2400" dirty="0">
              <a:solidFill>
                <a:schemeClr val="accent4">
                  <a:lumMod val="50000"/>
                </a:schemeClr>
              </a:solidFill>
            </a:endParaRPr>
          </a:p>
        </p:txBody>
      </p:sp>
      <p:sp>
        <p:nvSpPr>
          <p:cNvPr id="6" name="TextBox 5">
            <a:extLst>
              <a:ext uri="{FF2B5EF4-FFF2-40B4-BE49-F238E27FC236}">
                <a16:creationId xmlns:a16="http://schemas.microsoft.com/office/drawing/2014/main" id="{0F059F0D-8F45-1CD0-7933-C07A918800B8}"/>
              </a:ext>
            </a:extLst>
          </p:cNvPr>
          <p:cNvSpPr txBox="1"/>
          <p:nvPr/>
        </p:nvSpPr>
        <p:spPr>
          <a:xfrm>
            <a:off x="756665" y="1675536"/>
            <a:ext cx="3734998" cy="738664"/>
          </a:xfrm>
          <a:prstGeom prst="rect">
            <a:avLst/>
          </a:prstGeom>
          <a:noFill/>
          <a:ln w="3175">
            <a:noFill/>
          </a:ln>
        </p:spPr>
        <p:txBody>
          <a:bodyPr wrap="square" rtlCol="0">
            <a:spAutoFit/>
          </a:bodyPr>
          <a:lstStyle/>
          <a:p>
            <a:r>
              <a:rPr lang="en-US" sz="2400" dirty="0">
                <a:solidFill>
                  <a:schemeClr val="accent4">
                    <a:lumMod val="50000"/>
                  </a:schemeClr>
                </a:solidFill>
                <a:latin typeface="Times New Roman" panose="02020603050405020304" pitchFamily="18" charset="0"/>
                <a:cs typeface="Times New Roman" panose="02020603050405020304" pitchFamily="18" charset="0"/>
              </a:rPr>
              <a:t>Why Synthetic Data?</a:t>
            </a:r>
          </a:p>
          <a:p>
            <a:endParaRPr lang="en-US" dirty="0"/>
          </a:p>
        </p:txBody>
      </p:sp>
    </p:spTree>
    <p:extLst>
      <p:ext uri="{BB962C8B-B14F-4D97-AF65-F5344CB8AC3E}">
        <p14:creationId xmlns:p14="http://schemas.microsoft.com/office/powerpoint/2010/main" val="4193522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6129C-3796-AEAC-168F-F1558823A651}"/>
              </a:ext>
            </a:extLst>
          </p:cNvPr>
          <p:cNvSpPr>
            <a:spLocks noGrp="1"/>
          </p:cNvSpPr>
          <p:nvPr>
            <p:ph type="title"/>
          </p:nvPr>
        </p:nvSpPr>
        <p:spPr>
          <a:xfrm>
            <a:off x="345989" y="365125"/>
            <a:ext cx="11007811" cy="1325563"/>
          </a:xfrm>
        </p:spPr>
        <p:txBody>
          <a:bodyPr>
            <a:normAutofit/>
          </a:bodyPr>
          <a:lstStyle/>
          <a:p>
            <a:r>
              <a:rPr lang="en-US" b="1" dirty="0">
                <a:solidFill>
                  <a:schemeClr val="accent3"/>
                </a:solidFill>
                <a:latin typeface="Times New Roman" panose="02020603050405020304" pitchFamily="18" charset="0"/>
                <a:cs typeface="Times New Roman" panose="02020603050405020304" pitchFamily="18" charset="0"/>
              </a:rPr>
              <a:t>Q-Learning Curve</a:t>
            </a:r>
          </a:p>
        </p:txBody>
      </p:sp>
      <p:pic>
        <p:nvPicPr>
          <p:cNvPr id="1026" name="Picture 2">
            <a:extLst>
              <a:ext uri="{FF2B5EF4-FFF2-40B4-BE49-F238E27FC236}">
                <a16:creationId xmlns:a16="http://schemas.microsoft.com/office/drawing/2014/main" id="{886E4921-CA59-4FD8-28E1-8343ADA0A2E7}"/>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06020" y="1972483"/>
            <a:ext cx="5597828" cy="421825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8B0F89A4-8156-6249-E118-0A59B117FB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32389" y="1972483"/>
            <a:ext cx="6253590" cy="40823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65103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734AD-D8FF-2C3F-1948-9ABEA0C3CA5E}"/>
              </a:ext>
            </a:extLst>
          </p:cNvPr>
          <p:cNvSpPr>
            <a:spLocks noGrp="1"/>
          </p:cNvSpPr>
          <p:nvPr>
            <p:ph type="title"/>
          </p:nvPr>
        </p:nvSpPr>
        <p:spPr>
          <a:xfrm>
            <a:off x="210620" y="233805"/>
            <a:ext cx="6668645" cy="630939"/>
          </a:xfrm>
        </p:spPr>
        <p:txBody>
          <a:bodyPr>
            <a:noAutofit/>
          </a:bodyPr>
          <a:lstStyle/>
          <a:p>
            <a:r>
              <a:rPr lang="en-US" b="1" dirty="0">
                <a:solidFill>
                  <a:schemeClr val="accent4">
                    <a:lumMod val="50000"/>
                  </a:schemeClr>
                </a:solidFill>
                <a:latin typeface="Times New Roman" panose="02020603050405020304" pitchFamily="18" charset="0"/>
                <a:cs typeface="Times New Roman" panose="02020603050405020304" pitchFamily="18" charset="0"/>
              </a:rPr>
              <a:t>Policy Comparison Results</a:t>
            </a:r>
          </a:p>
        </p:txBody>
      </p:sp>
      <p:pic>
        <p:nvPicPr>
          <p:cNvPr id="2050" name="Picture 2">
            <a:extLst>
              <a:ext uri="{FF2B5EF4-FFF2-40B4-BE49-F238E27FC236}">
                <a16:creationId xmlns:a16="http://schemas.microsoft.com/office/drawing/2014/main" id="{7E7C80FB-2D6F-3354-9904-0DABBE6B9E1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10620" y="1023346"/>
            <a:ext cx="4892721" cy="275561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62A82D00-971B-3D5D-4BE9-BE0C9A44E25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0620" y="3933558"/>
            <a:ext cx="4892721" cy="2755617"/>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2AC7EACF-E133-7084-330B-F327E20E3A4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47489" y="2662653"/>
            <a:ext cx="6183870" cy="402652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68B11F1-92E1-5D1F-C30D-A19DE54C6494}"/>
              </a:ext>
            </a:extLst>
          </p:cNvPr>
          <p:cNvSpPr txBox="1"/>
          <p:nvPr/>
        </p:nvSpPr>
        <p:spPr>
          <a:xfrm>
            <a:off x="7734510" y="2039493"/>
            <a:ext cx="1609827" cy="461665"/>
          </a:xfrm>
          <a:prstGeom prst="rect">
            <a:avLst/>
          </a:prstGeom>
          <a:noFill/>
        </p:spPr>
        <p:txBody>
          <a:bodyPr wrap="square" rtlCol="0">
            <a:spAutoFit/>
          </a:bodyPr>
          <a:lstStyle/>
          <a:p>
            <a:r>
              <a:rPr lang="en-US" sz="2400" dirty="0">
                <a:solidFill>
                  <a:schemeClr val="accent3"/>
                </a:solidFill>
                <a:latin typeface="Times New Roman" panose="02020603050405020304" pitchFamily="18" charset="0"/>
                <a:cs typeface="Times New Roman" panose="02020603050405020304" pitchFamily="18" charset="0"/>
              </a:rPr>
              <a:t>Results</a:t>
            </a:r>
          </a:p>
        </p:txBody>
      </p:sp>
    </p:spTree>
    <p:extLst>
      <p:ext uri="{BB962C8B-B14F-4D97-AF65-F5344CB8AC3E}">
        <p14:creationId xmlns:p14="http://schemas.microsoft.com/office/powerpoint/2010/main" val="1926013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7255F-F799-6501-27AC-DB47D697980C}"/>
              </a:ext>
            </a:extLst>
          </p:cNvPr>
          <p:cNvSpPr>
            <a:spLocks noGrp="1"/>
          </p:cNvSpPr>
          <p:nvPr>
            <p:ph type="title"/>
          </p:nvPr>
        </p:nvSpPr>
        <p:spPr>
          <a:xfrm>
            <a:off x="234778" y="365125"/>
            <a:ext cx="11119022" cy="613629"/>
          </a:xfrm>
        </p:spPr>
        <p:txBody>
          <a:bodyPr>
            <a:noAutofit/>
          </a:bodyPr>
          <a:lstStyle/>
          <a:p>
            <a:r>
              <a:rPr lang="en-US" b="1" dirty="0">
                <a:solidFill>
                  <a:schemeClr val="accent4">
                    <a:lumMod val="50000"/>
                  </a:schemeClr>
                </a:solidFill>
                <a:latin typeface="Times New Roman" panose="02020603050405020304" pitchFamily="18" charset="0"/>
                <a:cs typeface="Times New Roman" panose="02020603050405020304" pitchFamily="18" charset="0"/>
              </a:rPr>
              <a:t>LLM Explanation + Audio Feature on Result</a:t>
            </a:r>
          </a:p>
        </p:txBody>
      </p:sp>
      <p:pic>
        <p:nvPicPr>
          <p:cNvPr id="9" name="Content Placeholder 8">
            <a:extLst>
              <a:ext uri="{FF2B5EF4-FFF2-40B4-BE49-F238E27FC236}">
                <a16:creationId xmlns:a16="http://schemas.microsoft.com/office/drawing/2014/main" id="{C8F11A84-93A5-37BA-B20C-62E447632EE0}"/>
              </a:ext>
            </a:extLst>
          </p:cNvPr>
          <p:cNvPicPr>
            <a:picLocks noGrp="1" noChangeAspect="1"/>
          </p:cNvPicPr>
          <p:nvPr>
            <p:ph idx="1"/>
          </p:nvPr>
        </p:nvPicPr>
        <p:blipFill>
          <a:blip r:embed="rId7"/>
          <a:stretch>
            <a:fillRect/>
          </a:stretch>
        </p:blipFill>
        <p:spPr>
          <a:xfrm>
            <a:off x="98854" y="1222410"/>
            <a:ext cx="11924270" cy="5439435"/>
          </a:xfrm>
          <a:prstGeom prst="rect">
            <a:avLst/>
          </a:prstGeom>
        </p:spPr>
      </p:pic>
      <p:pic>
        <p:nvPicPr>
          <p:cNvPr id="10" name="download">
            <a:hlinkClick r:id="" action="ppaction://media"/>
            <a:extLst>
              <a:ext uri="{FF2B5EF4-FFF2-40B4-BE49-F238E27FC236}">
                <a16:creationId xmlns:a16="http://schemas.microsoft.com/office/drawing/2014/main" id="{48C2B944-247D-C23C-E27F-4B050E30F613}"/>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2804983" y="3429000"/>
            <a:ext cx="488092" cy="488092"/>
          </a:xfrm>
          <a:prstGeom prst="rect">
            <a:avLst/>
          </a:prstGeom>
        </p:spPr>
      </p:pic>
      <p:pic>
        <p:nvPicPr>
          <p:cNvPr id="11" name="download copy">
            <a:hlinkClick r:id="" action="ppaction://media"/>
            <a:extLst>
              <a:ext uri="{FF2B5EF4-FFF2-40B4-BE49-F238E27FC236}">
                <a16:creationId xmlns:a16="http://schemas.microsoft.com/office/drawing/2014/main" id="{D4CC82B0-3257-ADB6-9917-EB3816F42E97}"/>
              </a:ext>
            </a:extLst>
          </p:cNvPr>
          <p:cNvPicPr>
            <a:picLocks noChangeAspect="1"/>
          </p:cNvPicPr>
          <p:nvPr>
            <a:audioFile r:link="rId4"/>
            <p:extLst>
              <p:ext uri="{DAA4B4D4-6D71-4841-9C94-3DE7FCFB9230}">
                <p14:media xmlns:p14="http://schemas.microsoft.com/office/powerpoint/2010/main" r:embed="rId3"/>
              </p:ext>
            </p:extLst>
          </p:nvPr>
        </p:nvPicPr>
        <p:blipFill>
          <a:blip r:embed="rId8"/>
          <a:stretch>
            <a:fillRect/>
          </a:stretch>
        </p:blipFill>
        <p:spPr>
          <a:xfrm>
            <a:off x="2804983" y="6004783"/>
            <a:ext cx="488092" cy="488092"/>
          </a:xfrm>
          <a:prstGeom prst="rect">
            <a:avLst/>
          </a:prstGeom>
        </p:spPr>
      </p:pic>
    </p:spTree>
    <p:extLst>
      <p:ext uri="{BB962C8B-B14F-4D97-AF65-F5344CB8AC3E}">
        <p14:creationId xmlns:p14="http://schemas.microsoft.com/office/powerpoint/2010/main" val="3755342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6736" fill="hold"/>
                                        <p:tgtEl>
                                          <p:spTgt spid="1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7996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1" fill="hold" display="0">
                  <p:stCondLst>
                    <p:cond delay="indefinite"/>
                  </p:stCondLst>
                  <p:endCondLst>
                    <p:cond evt="onStopAudio" delay="0">
                      <p:tgtEl>
                        <p:sldTgt/>
                      </p:tgtEl>
                    </p:cond>
                  </p:endCondLst>
                </p:cTn>
                <p:tgtEl>
                  <p:spTgt spid="10"/>
                </p:tgtEl>
              </p:cMediaNode>
            </p:audio>
            <p:audio>
              <p:cMediaNode vol="80000">
                <p:cTn id="12" fill="hold" display="0">
                  <p:stCondLst>
                    <p:cond delay="indefinite"/>
                  </p:stCondLst>
                  <p:endCondLst>
                    <p:cond evt="onStopAudio" delay="0">
                      <p:tgtEl>
                        <p:sldTgt/>
                      </p:tgtEl>
                    </p:cond>
                  </p:endCondLst>
                </p:cTn>
                <p:tgtEl>
                  <p:spTgt spid="11"/>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9AA13-6A15-96AB-1E95-68C46B388D0D}"/>
              </a:ext>
            </a:extLst>
          </p:cNvPr>
          <p:cNvSpPr>
            <a:spLocks noGrp="1"/>
          </p:cNvSpPr>
          <p:nvPr>
            <p:ph type="title"/>
          </p:nvPr>
        </p:nvSpPr>
        <p:spPr>
          <a:xfrm>
            <a:off x="550862" y="1447475"/>
            <a:ext cx="11091600" cy="45719"/>
          </a:xfrm>
        </p:spPr>
        <p:txBody>
          <a:bodyPr>
            <a:noAutofit/>
          </a:bodyPr>
          <a:lstStyle/>
          <a:p>
            <a:r>
              <a:rPr lang="en-US" b="1" dirty="0">
                <a:solidFill>
                  <a:schemeClr val="accent4">
                    <a:lumMod val="50000"/>
                  </a:schemeClr>
                </a:solidFill>
                <a:latin typeface="Times New Roman" panose="02020603050405020304" pitchFamily="18" charset="0"/>
                <a:cs typeface="Times New Roman" panose="02020603050405020304" pitchFamily="18" charset="0"/>
              </a:rPr>
              <a:t>Difficulties Faced and Future Plan</a:t>
            </a:r>
            <a:br>
              <a:rPr lang="en-US" b="1" dirty="0">
                <a:solidFill>
                  <a:schemeClr val="accent4">
                    <a:lumMod val="50000"/>
                  </a:schemeClr>
                </a:solidFill>
                <a:latin typeface="Times New Roman" panose="02020603050405020304" pitchFamily="18" charset="0"/>
                <a:cs typeface="Times New Roman" panose="02020603050405020304" pitchFamily="18" charset="0"/>
              </a:rPr>
            </a:br>
            <a:br>
              <a:rPr lang="en-US" b="1" dirty="0">
                <a:solidFill>
                  <a:schemeClr val="accent4">
                    <a:lumMod val="50000"/>
                  </a:schemeClr>
                </a:solidFill>
                <a:latin typeface="Times New Roman" panose="02020603050405020304" pitchFamily="18" charset="0"/>
                <a:cs typeface="Times New Roman" panose="02020603050405020304" pitchFamily="18" charset="0"/>
              </a:rPr>
            </a:br>
            <a:endParaRPr lang="en-US"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BDF51FB-CD56-C29E-EED5-CC9989CAE397}"/>
              </a:ext>
            </a:extLst>
          </p:cNvPr>
          <p:cNvSpPr>
            <a:spLocks noGrp="1"/>
          </p:cNvSpPr>
          <p:nvPr>
            <p:ph idx="1"/>
          </p:nvPr>
        </p:nvSpPr>
        <p:spPr>
          <a:xfrm>
            <a:off x="550862" y="2623561"/>
            <a:ext cx="4829211" cy="3979625"/>
          </a:xfrm>
        </p:spPr>
        <p:txBody>
          <a:bodyPr>
            <a:normAutofit fontScale="85000" lnSpcReduction="20000"/>
          </a:bodyPr>
          <a:lstStyle/>
          <a:p>
            <a:r>
              <a:rPr lang="en-US" dirty="0">
                <a:latin typeface="Times New Roman" panose="02020603050405020304" pitchFamily="18" charset="0"/>
                <a:cs typeface="Times New Roman" panose="02020603050405020304" pitchFamily="18" charset="0"/>
              </a:rPr>
              <a:t>Real medical data was difficult to access </a:t>
            </a:r>
          </a:p>
          <a:p>
            <a:r>
              <a:rPr lang="en-US" dirty="0">
                <a:latin typeface="Times New Roman" panose="02020603050405020304" pitchFamily="18" charset="0"/>
                <a:cs typeface="Times New Roman" panose="02020603050405020304" pitchFamily="18" charset="0"/>
              </a:rPr>
              <a:t>Creating realistic synthetic patients was challenging </a:t>
            </a:r>
          </a:p>
          <a:p>
            <a:r>
              <a:rPr lang="en-US" dirty="0">
                <a:latin typeface="Times New Roman" panose="02020603050405020304" pitchFamily="18" charset="0"/>
                <a:cs typeface="Times New Roman" panose="02020603050405020304" pitchFamily="18" charset="0"/>
              </a:rPr>
              <a:t>RL training had fluctuations and debugging issues </a:t>
            </a:r>
          </a:p>
          <a:p>
            <a:r>
              <a:rPr lang="en-US" dirty="0">
                <a:latin typeface="Times New Roman" panose="02020603050405020304" pitchFamily="18" charset="0"/>
                <a:cs typeface="Times New Roman" panose="02020603050405020304" pitchFamily="18" charset="0"/>
              </a:rPr>
              <a:t>Gemini API had quota and model errors </a:t>
            </a:r>
          </a:p>
          <a:p>
            <a:r>
              <a:rPr lang="en-US" dirty="0">
                <a:latin typeface="Times New Roman" panose="02020603050405020304" pitchFamily="18" charset="0"/>
                <a:cs typeface="Times New Roman" panose="02020603050405020304" pitchFamily="18" charset="0"/>
              </a:rPr>
              <a:t>Audio integration required handling empty explanations </a:t>
            </a:r>
          </a:p>
          <a:p>
            <a:br>
              <a:rPr lang="en-US" dirty="0"/>
            </a:br>
            <a:endParaRPr lang="en-US" dirty="0"/>
          </a:p>
          <a:p>
            <a:endParaRPr lang="en-US" dirty="0"/>
          </a:p>
        </p:txBody>
      </p:sp>
      <p:sp>
        <p:nvSpPr>
          <p:cNvPr id="4" name="TextBox 3">
            <a:extLst>
              <a:ext uri="{FF2B5EF4-FFF2-40B4-BE49-F238E27FC236}">
                <a16:creationId xmlns:a16="http://schemas.microsoft.com/office/drawing/2014/main" id="{AD5DE3F7-8E66-EE0D-5E0C-2BC88832C298}"/>
              </a:ext>
            </a:extLst>
          </p:cNvPr>
          <p:cNvSpPr txBox="1"/>
          <p:nvPr/>
        </p:nvSpPr>
        <p:spPr>
          <a:xfrm>
            <a:off x="5968410" y="2623561"/>
            <a:ext cx="5227674" cy="1938992"/>
          </a:xfrm>
          <a:prstGeom prst="rect">
            <a:avLst/>
          </a:prstGeom>
          <a:noFill/>
        </p:spPr>
        <p:txBody>
          <a:bodyPr wrap="square" rtlCol="0">
            <a:spAutoFit/>
          </a:bodyPr>
          <a:lstStyle/>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 real hospital datasets </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Add multi-step treatment decisions </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Improve prediction with more ML models </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Make the app more interactive </a:t>
            </a:r>
          </a:p>
        </p:txBody>
      </p:sp>
      <p:sp>
        <p:nvSpPr>
          <p:cNvPr id="11" name="TextBox 10">
            <a:extLst>
              <a:ext uri="{FF2B5EF4-FFF2-40B4-BE49-F238E27FC236}">
                <a16:creationId xmlns:a16="http://schemas.microsoft.com/office/drawing/2014/main" id="{98B4D791-7139-A2F2-62FA-58A05A844F71}"/>
              </a:ext>
            </a:extLst>
          </p:cNvPr>
          <p:cNvSpPr txBox="1"/>
          <p:nvPr/>
        </p:nvSpPr>
        <p:spPr>
          <a:xfrm>
            <a:off x="1737110" y="1982972"/>
            <a:ext cx="1924493" cy="461665"/>
          </a:xfrm>
          <a:prstGeom prst="rect">
            <a:avLst/>
          </a:prstGeom>
          <a:noFill/>
        </p:spPr>
        <p:txBody>
          <a:bodyPr wrap="square" rtlCol="0">
            <a:spAutoFit/>
          </a:bodyPr>
          <a:lstStyle/>
          <a:p>
            <a:r>
              <a:rPr lang="en-US" sz="2400" dirty="0">
                <a:solidFill>
                  <a:schemeClr val="accent4">
                    <a:lumMod val="50000"/>
                  </a:schemeClr>
                </a:solidFill>
                <a:latin typeface="Times New Roman" panose="02020603050405020304" pitchFamily="18" charset="0"/>
                <a:cs typeface="Times New Roman" panose="02020603050405020304" pitchFamily="18" charset="0"/>
              </a:rPr>
              <a:t>Difficulties</a:t>
            </a:r>
          </a:p>
        </p:txBody>
      </p:sp>
      <p:sp>
        <p:nvSpPr>
          <p:cNvPr id="13" name="TextBox 12">
            <a:extLst>
              <a:ext uri="{FF2B5EF4-FFF2-40B4-BE49-F238E27FC236}">
                <a16:creationId xmlns:a16="http://schemas.microsoft.com/office/drawing/2014/main" id="{8575FEE8-3783-B9CB-972C-3A6CAD7169AE}"/>
              </a:ext>
            </a:extLst>
          </p:cNvPr>
          <p:cNvSpPr txBox="1"/>
          <p:nvPr/>
        </p:nvSpPr>
        <p:spPr>
          <a:xfrm>
            <a:off x="6592186" y="1982972"/>
            <a:ext cx="2615609" cy="461665"/>
          </a:xfrm>
          <a:prstGeom prst="rect">
            <a:avLst/>
          </a:prstGeom>
          <a:noFill/>
        </p:spPr>
        <p:txBody>
          <a:bodyPr wrap="square" rtlCol="0">
            <a:spAutoFit/>
          </a:bodyPr>
          <a:lstStyle/>
          <a:p>
            <a:r>
              <a:rPr lang="en-US" sz="2400" dirty="0">
                <a:solidFill>
                  <a:schemeClr val="accent4">
                    <a:lumMod val="50000"/>
                  </a:schemeClr>
                </a:solidFill>
                <a:latin typeface="Times New Roman" panose="02020603050405020304" pitchFamily="18" charset="0"/>
                <a:cs typeface="Times New Roman" panose="02020603050405020304" pitchFamily="18" charset="0"/>
              </a:rPr>
              <a:t>Future  plan</a:t>
            </a:r>
          </a:p>
        </p:txBody>
      </p:sp>
    </p:spTree>
    <p:extLst>
      <p:ext uri="{BB962C8B-B14F-4D97-AF65-F5344CB8AC3E}">
        <p14:creationId xmlns:p14="http://schemas.microsoft.com/office/powerpoint/2010/main" val="41109218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4DAD4-C9D9-FD4F-1CBF-BDBF49B7CDC3}"/>
              </a:ext>
            </a:extLst>
          </p:cNvPr>
          <p:cNvSpPr>
            <a:spLocks noGrp="1"/>
          </p:cNvSpPr>
          <p:nvPr>
            <p:ph type="title"/>
          </p:nvPr>
        </p:nvSpPr>
        <p:spPr>
          <a:xfrm>
            <a:off x="838199" y="781199"/>
            <a:ext cx="10802937" cy="1332000"/>
          </a:xfrm>
        </p:spPr>
        <p:txBody>
          <a:bodyPr>
            <a:normAutofit/>
          </a:bodyPr>
          <a:lstStyle/>
          <a:p>
            <a:r>
              <a:rPr lang="en-US" b="1" dirty="0">
                <a:solidFill>
                  <a:schemeClr val="accent4">
                    <a:lumMod val="50000"/>
                  </a:schemeClr>
                </a:solidFill>
                <a:latin typeface="Times New Roman" panose="02020603050405020304" pitchFamily="18" charset="0"/>
                <a:cs typeface="Times New Roman" panose="02020603050405020304" pitchFamily="18" charset="0"/>
              </a:rPr>
              <a:t>Conclusion</a:t>
            </a:r>
            <a:br>
              <a:rPr lang="en-US" b="1" dirty="0"/>
            </a:br>
            <a:endParaRPr lang="en-US" dirty="0"/>
          </a:p>
        </p:txBody>
      </p:sp>
      <p:sp>
        <p:nvSpPr>
          <p:cNvPr id="3" name="Content Placeholder 2">
            <a:extLst>
              <a:ext uri="{FF2B5EF4-FFF2-40B4-BE49-F238E27FC236}">
                <a16:creationId xmlns:a16="http://schemas.microsoft.com/office/drawing/2014/main" id="{E16C35A2-49CA-94A5-5351-60D766605FDE}"/>
              </a:ext>
            </a:extLst>
          </p:cNvPr>
          <p:cNvSpPr>
            <a:spLocks noGrp="1"/>
          </p:cNvSpPr>
          <p:nvPr>
            <p:ph idx="1"/>
          </p:nvPr>
        </p:nvSpPr>
        <p:spPr/>
        <p:txBody>
          <a:bodyPr/>
          <a:lstStyle/>
          <a:p>
            <a:pPr marL="0" indent="0">
              <a:buNone/>
            </a:pPr>
            <a:r>
              <a:rPr lang="en-US" sz="2400" dirty="0">
                <a:latin typeface="Times New Roman" panose="02020603050405020304" pitchFamily="18" charset="0"/>
                <a:cs typeface="Times New Roman" panose="02020603050405020304" pitchFamily="18" charset="0"/>
              </a:rPr>
              <a:t>This project successfully built an AI-based clinical decision support system using Reinforcement Learning. The system generates synthetic patient cases, predicts disease, recommends treatment, and suggests the appropriate doctor. The RL model performed much better than random policy and close to the rule-based approach. Adding LLM explanations and audio support made the system more interactive and easier to understand. This project shows how AI can support smarter healthcare decision-making in a simulated environment.</a:t>
            </a:r>
          </a:p>
          <a:p>
            <a:endParaRPr lang="en-US" dirty="0"/>
          </a:p>
        </p:txBody>
      </p:sp>
    </p:spTree>
    <p:extLst>
      <p:ext uri="{BB962C8B-B14F-4D97-AF65-F5344CB8AC3E}">
        <p14:creationId xmlns:p14="http://schemas.microsoft.com/office/powerpoint/2010/main" val="4059022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650AE-944C-EE36-2EF3-1EA3C28A0791}"/>
              </a:ext>
            </a:extLst>
          </p:cNvPr>
          <p:cNvSpPr>
            <a:spLocks noGrp="1"/>
          </p:cNvSpPr>
          <p:nvPr>
            <p:ph type="title"/>
          </p:nvPr>
        </p:nvSpPr>
        <p:spPr>
          <a:xfrm>
            <a:off x="3072712" y="3208551"/>
            <a:ext cx="5062152" cy="914400"/>
          </a:xfrm>
        </p:spPr>
        <p:txBody>
          <a:bodyPr>
            <a:normAutofit fontScale="90000"/>
          </a:bodyPr>
          <a:lstStyle/>
          <a:p>
            <a:r>
              <a:rPr lang="en-US" sz="8000" b="1" dirty="0">
                <a:solidFill>
                  <a:schemeClr val="accent4">
                    <a:lumMod val="50000"/>
                  </a:schemeClr>
                </a:solidFill>
                <a:latin typeface="Times New Roman" panose="02020603050405020304" pitchFamily="18" charset="0"/>
                <a:cs typeface="Times New Roman" panose="02020603050405020304" pitchFamily="18" charset="0"/>
              </a:rPr>
              <a:t>Thank You</a:t>
            </a:r>
            <a:br>
              <a:rPr lang="en-US" sz="5400" dirty="0">
                <a:solidFill>
                  <a:schemeClr val="accent4">
                    <a:lumMod val="50000"/>
                  </a:schemeClr>
                </a:solidFill>
                <a:latin typeface="Aptos" panose="020B0004020202020204" pitchFamily="34" charset="0"/>
              </a:rPr>
            </a:br>
            <a:endParaRPr lang="en-US" sz="5400" dirty="0">
              <a:solidFill>
                <a:schemeClr val="accent4">
                  <a:lumMod val="50000"/>
                </a:schemeClr>
              </a:solidFill>
              <a:latin typeface="Aptos" panose="020B0004020202020204" pitchFamily="34" charset="0"/>
            </a:endParaRPr>
          </a:p>
        </p:txBody>
      </p:sp>
      <p:pic>
        <p:nvPicPr>
          <p:cNvPr id="8" name="Graphic 7" descr="Angel face outline with solid fill">
            <a:extLst>
              <a:ext uri="{FF2B5EF4-FFF2-40B4-BE49-F238E27FC236}">
                <a16:creationId xmlns:a16="http://schemas.microsoft.com/office/drawing/2014/main" id="{421D917F-D618-6A15-32A8-83270C464E8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77664" y="2860590"/>
            <a:ext cx="914400" cy="914400"/>
          </a:xfrm>
          <a:prstGeom prst="rect">
            <a:avLst/>
          </a:prstGeom>
        </p:spPr>
      </p:pic>
      <p:sp>
        <p:nvSpPr>
          <p:cNvPr id="9" name="TextBox 8">
            <a:extLst>
              <a:ext uri="{FF2B5EF4-FFF2-40B4-BE49-F238E27FC236}">
                <a16:creationId xmlns:a16="http://schemas.microsoft.com/office/drawing/2014/main" id="{3B915DB4-D287-4974-F58F-3FD585F56FD9}"/>
              </a:ext>
            </a:extLst>
          </p:cNvPr>
          <p:cNvSpPr txBox="1"/>
          <p:nvPr/>
        </p:nvSpPr>
        <p:spPr>
          <a:xfrm>
            <a:off x="1670221" y="4223778"/>
            <a:ext cx="9389075" cy="461665"/>
          </a:xfrm>
          <a:prstGeom prst="rect">
            <a:avLst/>
          </a:prstGeom>
          <a:noFill/>
        </p:spPr>
        <p:txBody>
          <a:bodyPr wrap="square" rtlCol="0">
            <a:spAutoFit/>
          </a:bodyPr>
          <a:lstStyle/>
          <a:p>
            <a:r>
              <a:rPr lang="en-US" sz="2400" dirty="0">
                <a:solidFill>
                  <a:schemeClr val="accent4">
                    <a:lumMod val="50000"/>
                  </a:schemeClr>
                </a:solidFill>
                <a:latin typeface="Times New Roman" panose="02020603050405020304" pitchFamily="18" charset="0"/>
                <a:cs typeface="Times New Roman" panose="02020603050405020304" pitchFamily="18" charset="0"/>
              </a:rPr>
              <a:t>“Stay safe, stay healthy, and let AI help build a better healthcare future.”</a:t>
            </a:r>
          </a:p>
        </p:txBody>
      </p:sp>
    </p:spTree>
    <p:extLst>
      <p:ext uri="{BB962C8B-B14F-4D97-AF65-F5344CB8AC3E}">
        <p14:creationId xmlns:p14="http://schemas.microsoft.com/office/powerpoint/2010/main" val="3603122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97E0A228-C590-4D20-B05F-A6BF04A0544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Parcel</Template>
  <TotalTime>177</TotalTime>
  <Words>436</Words>
  <Application>Microsoft Macintosh PowerPoint</Application>
  <PresentationFormat>Widescreen</PresentationFormat>
  <Paragraphs>76</Paragraphs>
  <Slides>11</Slides>
  <Notes>11</Notes>
  <HiddenSlides>0</HiddenSlides>
  <MMClips>2</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Times New Roman</vt:lpstr>
      <vt:lpstr>Office Theme</vt:lpstr>
      <vt:lpstr>Artificial Intelligence in Healthcare</vt:lpstr>
      <vt:lpstr>Background</vt:lpstr>
      <vt:lpstr>Goal </vt:lpstr>
      <vt:lpstr>Project Objective </vt:lpstr>
      <vt:lpstr>Synthetic Patient Generation and RL Environment Design </vt:lpstr>
      <vt:lpstr>Q-Learning Curve</vt:lpstr>
      <vt:lpstr>Policy Comparison Results</vt:lpstr>
      <vt:lpstr>LLM Explanation + Audio Feature on Result</vt:lpstr>
      <vt:lpstr>Difficulties Faced and Future Plan  </vt:lpstr>
      <vt:lpstr>Conclusion </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Tahmina Alam</dc:creator>
  <cp:lastModifiedBy>Tahmina Alam</cp:lastModifiedBy>
  <cp:revision>11</cp:revision>
  <dcterms:created xsi:type="dcterms:W3CDTF">2026-04-30T03:50:37Z</dcterms:created>
  <dcterms:modified xsi:type="dcterms:W3CDTF">2026-05-01T16:19:10Z</dcterms:modified>
</cp:coreProperties>
</file>